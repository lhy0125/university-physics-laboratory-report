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1" r:id="rId4"/>
    <p:sldId id="260" r:id="rId5"/>
    <p:sldId id="262" r:id="rId6"/>
    <p:sldId id="263" r:id="rId7"/>
    <p:sldId id="265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wei" initials="z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6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gi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  <a:t>2025/2/27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  <a:t>2025/2/27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0" y="0"/>
            <a:ext cx="9144000" cy="6858000"/>
            <a:chOff x="0" y="0"/>
            <a:chExt cx="14400" cy="10800"/>
          </a:xfrm>
        </p:grpSpPr>
        <p:pic>
          <p:nvPicPr>
            <p:cNvPr id="7170" name="Picture 2" descr="C:\Users\Administrator\Desktop\liu背景3.JPG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4400" cy="10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矩形 1"/>
            <p:cNvSpPr/>
            <p:nvPr userDrawn="1"/>
          </p:nvSpPr>
          <p:spPr>
            <a:xfrm>
              <a:off x="8334" y="1204"/>
              <a:ext cx="5103" cy="39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963" y="5400"/>
              <a:ext cx="5103" cy="39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0904" y="6377"/>
              <a:ext cx="3327" cy="39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6" name="文本框 5"/>
          <p:cNvSpPr txBox="1"/>
          <p:nvPr userDrawn="1"/>
        </p:nvSpPr>
        <p:spPr>
          <a:xfrm>
            <a:off x="245110" y="6459220"/>
            <a:ext cx="2493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华文彩云" panose="02010800040101010101" charset="-122"/>
                <a:ea typeface="华文彩云" panose="02010800040101010101" charset="-122"/>
              </a:rPr>
              <a:t>物理与电子信息学院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hyperlink" Target="file:///D:\1(&#25945;&#23398;&#65289;\&#29289;&#29702;&#23454;&#39564;\&#29289;&#29702;&#23454;&#39564;&#65288;&#19978;&#65289;2024.2\&#12298;&#29289;&#29702;&#23454;&#39564;&#12299;&#35838;&#31243;&#32771;&#26680;&#19982;&#25104;&#32489;&#35780;&#23450;&#26041;&#27861;.docx" TargetMode="Externa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13"/>
          <p:cNvSpPr>
            <a:spLocks noChangeArrowheads="1" noChangeShapeType="1" noTextEdit="1"/>
          </p:cNvSpPr>
          <p:nvPr/>
        </p:nvSpPr>
        <p:spPr bwMode="auto">
          <a:xfrm>
            <a:off x="531251" y="1490003"/>
            <a:ext cx="5034280" cy="81470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301"/>
              </a:avLst>
            </a:prstTxWarp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6000" kern="1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2"/>
                </a:solidFill>
                <a:effectLst/>
                <a:latin typeface="隶书" panose="02010509060101010101" charset="-122"/>
                <a:ea typeface="隶书" panose="02010509060101010101" charset="-122"/>
              </a:rPr>
              <a:t>物理实验（一）</a:t>
            </a:r>
          </a:p>
        </p:txBody>
      </p:sp>
      <p:graphicFrame>
        <p:nvGraphicFramePr>
          <p:cNvPr id="4" name="对象 3"/>
          <p:cNvGraphicFramePr/>
          <p:nvPr/>
        </p:nvGraphicFramePr>
        <p:xfrm>
          <a:off x="6659563" y="4005263"/>
          <a:ext cx="2484437" cy="239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r:id="rId3" imgW="4991100" imgH="4445000" progId="Photoshop.Image.8">
                  <p:embed/>
                </p:oleObj>
              </mc:Choice>
              <mc:Fallback>
                <p:oleObj r:id="rId3" imgW="4991100" imgH="4445000" progId="Photoshop.Image.8">
                  <p:embed/>
                  <p:pic>
                    <p:nvPicPr>
                      <p:cNvPr id="0" name="图片 104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005263"/>
                        <a:ext cx="2484437" cy="2395537"/>
                      </a:xfrm>
                      <a:prstGeom prst="rect">
                        <a:avLst/>
                      </a:prstGeom>
                      <a:pattFill prst="pct5">
                        <a:fgClr>
                          <a:schemeClr val="accent1"/>
                        </a:fgClr>
                        <a:bgClr>
                          <a:schemeClr val="bg1"/>
                        </a:bgClr>
                      </a:patt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WordArt 1026"/>
          <p:cNvSpPr>
            <a:spLocks noTextEdit="1"/>
          </p:cNvSpPr>
          <p:nvPr/>
        </p:nvSpPr>
        <p:spPr>
          <a:xfrm>
            <a:off x="2185426" y="2930818"/>
            <a:ext cx="1113155" cy="3727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algn="ctr" eaLnBrk="0" hangingPunct="0"/>
            <a:r>
              <a:rPr lang="zh-CN" altLang="en-US" sz="4800" dirty="0" smtClean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王小二</a:t>
            </a:r>
            <a:endParaRPr lang="zh-CN" altLang="en-US" sz="4800" dirty="0"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  <a:solidFill>
                <a:srgbClr val="0000FF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WordArt 1026"/>
          <p:cNvSpPr>
            <a:spLocks noTextEdit="1"/>
          </p:cNvSpPr>
          <p:nvPr/>
        </p:nvSpPr>
        <p:spPr>
          <a:xfrm>
            <a:off x="1371356" y="4457993"/>
            <a:ext cx="2801620" cy="2635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algn="ctr" eaLnBrk="0" hangingPunct="0"/>
            <a:r>
              <a:rPr lang="en-US" altLang="zh-CN" sz="4800" i="1" dirty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</a:t>
            </a:r>
            <a:r>
              <a:rPr lang="en-US" altLang="zh-CN" sz="4800" dirty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4800" dirty="0" smtClean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15138088089</a:t>
            </a:r>
            <a:endParaRPr lang="en-US" altLang="zh-CN" sz="4800" dirty="0"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WordArt 1026"/>
          <p:cNvSpPr>
            <a:spLocks noTextEdit="1"/>
          </p:cNvSpPr>
          <p:nvPr/>
        </p:nvSpPr>
        <p:spPr>
          <a:xfrm>
            <a:off x="1354846" y="3777908"/>
            <a:ext cx="2816225" cy="37338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algn="ctr" eaLnBrk="0" hangingPunct="0"/>
            <a:r>
              <a:rPr lang="en-US" altLang="zh-CN" sz="4800" i="1" dirty="0" smtClean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QQ</a:t>
            </a:r>
            <a:r>
              <a:rPr lang="zh-CN" altLang="en-US" sz="4800" dirty="0" smtClean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  <a:r>
              <a:rPr lang="en-US" altLang="zh-CN" sz="4800" dirty="0" smtClean="0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med"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1002565974</a:t>
            </a:r>
            <a:endParaRPr lang="en-US" altLang="zh-CN" sz="4800" dirty="0"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med"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75" b="23590"/>
          <a:stretch>
            <a:fillRect/>
          </a:stretch>
        </p:blipFill>
        <p:spPr>
          <a:xfrm>
            <a:off x="5286166" y="2620277"/>
            <a:ext cx="3857834" cy="393895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166458" y="403652"/>
            <a:ext cx="2726055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华文楷体" panose="02010600040101010101" charset="-122"/>
                <a:cs typeface="+mn-cs"/>
              </a:rPr>
              <a:t>实验课要求</a:t>
            </a:r>
          </a:p>
        </p:txBody>
      </p:sp>
      <p:sp>
        <p:nvSpPr>
          <p:cNvPr id="18" name="矩形 17"/>
          <p:cNvSpPr/>
          <p:nvPr/>
        </p:nvSpPr>
        <p:spPr>
          <a:xfrm>
            <a:off x="396240" y="1200150"/>
            <a:ext cx="8351520" cy="4906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en-US" altLang="zh-CN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. 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不能迟到，到教室</a:t>
            </a:r>
            <a:r>
              <a:rPr lang="zh-CN" altLang="en-US" sz="2400" b="1" kern="0" dirty="0" smtClean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先签到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，不能带吃的进实验室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；</a:t>
            </a:r>
          </a:p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000099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2. </a:t>
            </a:r>
            <a:r>
              <a:rPr lang="zh-CN" altLang="en-US" sz="2400" b="1" kern="0" dirty="0">
                <a:solidFill>
                  <a:srgbClr val="000099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原则上</a:t>
            </a:r>
            <a:r>
              <a:rPr lang="zh-CN" altLang="en-US" sz="2400" b="1" kern="0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两人一组</a:t>
            </a:r>
            <a:r>
              <a:rPr lang="zh-CN" altLang="en-US" sz="2400" b="1" kern="0" dirty="0" smtClean="0">
                <a:solidFill>
                  <a:srgbClr val="000099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zh-CN" altLang="en-US" sz="2400" b="1" kern="0" dirty="0" smtClean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桌号整学期固定不变</a:t>
            </a:r>
            <a:r>
              <a:rPr lang="en-US" altLang="zh-CN" sz="2400" b="1" kern="0" dirty="0" smtClean="0">
                <a:solidFill>
                  <a:srgbClr val="000099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；</a:t>
            </a:r>
            <a:endParaRPr lang="zh-CN" altLang="en-US" sz="2400" b="1" kern="0" dirty="0">
              <a:solidFill>
                <a:srgbClr val="000099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每次实验课交上次的实验课的</a:t>
            </a:r>
            <a:r>
              <a:rPr lang="zh-CN" altLang="en-US" sz="2400" b="1" kern="0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实验报告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（包括原始数据记录表，钉在一起上交）；</a:t>
            </a:r>
            <a:endParaRPr lang="en-US" altLang="zh-CN" sz="2400" b="1" kern="0" dirty="0">
              <a:solidFill>
                <a:srgbClr val="1807BF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 </a:t>
            </a:r>
            <a:r>
              <a:rPr lang="zh-CN" altLang="en-US" sz="2400" b="1" kern="0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实验</a:t>
            </a:r>
            <a:r>
              <a:rPr lang="zh-CN" altLang="en-US" sz="2400" b="1" kern="0" dirty="0" smtClean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报告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必须包含如下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内容：（</a:t>
            </a: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）实验目的；（</a:t>
            </a: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）实验仪器；（</a:t>
            </a: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）实验原理（要求含文字、图和相关公式）；（</a:t>
            </a: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）实验步骤；（</a:t>
            </a: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）实验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数据处理与结论（个别实验包括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坐标纸上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画图，或计算机作图打印）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；</a:t>
            </a:r>
          </a:p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5. 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原始数据记录表上</a:t>
            </a:r>
            <a:r>
              <a:rPr lang="zh-CN" altLang="en-US" sz="2400" b="1" kern="0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老师签完字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方可离开；</a:t>
            </a:r>
          </a:p>
          <a:p>
            <a:pPr marL="342900" indent="-342900" algn="just" rtl="0" fontAlgn="auto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6. 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离开前整理实验台和</a:t>
            </a:r>
            <a:r>
              <a:rPr lang="zh-CN" altLang="en-US" sz="2400" b="1" kern="0" dirty="0" smtClean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桌椅</a:t>
            </a:r>
            <a:r>
              <a:rPr lang="zh-CN" altLang="en-US" sz="2400" b="1" kern="0" dirty="0">
                <a:solidFill>
                  <a:srgbClr val="1807BF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，打扫卫生，关闭电源</a:t>
            </a:r>
            <a:r>
              <a:rPr lang="en-US" altLang="zh-CN" sz="2400" b="1" kern="0" dirty="0">
                <a:solidFill>
                  <a:srgbClr val="000099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Q图片20200421092310"/>
          <p:cNvPicPr>
            <a:picLocks noChangeAspect="1"/>
          </p:cNvPicPr>
          <p:nvPr/>
        </p:nvPicPr>
        <p:blipFill>
          <a:blip r:embed="rId2"/>
          <a:srcRect t="8382" b="11835"/>
          <a:stretch>
            <a:fillRect/>
          </a:stretch>
        </p:blipFill>
        <p:spPr>
          <a:xfrm>
            <a:off x="3522980" y="5080"/>
            <a:ext cx="3034030" cy="3227705"/>
          </a:xfrm>
          <a:prstGeom prst="rect">
            <a:avLst/>
          </a:prstGeom>
        </p:spPr>
      </p:pic>
      <p:pic>
        <p:nvPicPr>
          <p:cNvPr id="3" name="图片 2" descr="QQ图片20200421092332"/>
          <p:cNvPicPr>
            <a:picLocks noChangeAspect="1"/>
          </p:cNvPicPr>
          <p:nvPr/>
        </p:nvPicPr>
        <p:blipFill>
          <a:blip r:embed="rId3"/>
          <a:srcRect t="2822" b="2514"/>
          <a:stretch>
            <a:fillRect/>
          </a:stretch>
        </p:blipFill>
        <p:spPr>
          <a:xfrm>
            <a:off x="6557010" y="5080"/>
            <a:ext cx="2576195" cy="3252470"/>
          </a:xfrm>
          <a:prstGeom prst="rect">
            <a:avLst/>
          </a:prstGeom>
        </p:spPr>
      </p:pic>
      <p:pic>
        <p:nvPicPr>
          <p:cNvPr id="4" name="图片 3" descr="QQ图片20200421092338"/>
          <p:cNvPicPr>
            <a:picLocks noChangeAspect="1"/>
          </p:cNvPicPr>
          <p:nvPr/>
        </p:nvPicPr>
        <p:blipFill>
          <a:blip r:embed="rId4"/>
          <a:srcRect t="6180" r="5831" b="4571"/>
          <a:stretch>
            <a:fillRect/>
          </a:stretch>
        </p:blipFill>
        <p:spPr>
          <a:xfrm>
            <a:off x="6271895" y="3233420"/>
            <a:ext cx="2861310" cy="3616960"/>
          </a:xfrm>
          <a:prstGeom prst="rect">
            <a:avLst/>
          </a:prstGeom>
        </p:spPr>
      </p:pic>
      <p:pic>
        <p:nvPicPr>
          <p:cNvPr id="5" name="图片 4" descr="QQ图片20200421092344"/>
          <p:cNvPicPr>
            <a:picLocks noChangeAspect="1"/>
          </p:cNvPicPr>
          <p:nvPr/>
        </p:nvPicPr>
        <p:blipFill>
          <a:blip r:embed="rId5"/>
          <a:srcRect l="4224" t="3342" r="2580" b="7316"/>
          <a:stretch>
            <a:fillRect/>
          </a:stretch>
        </p:blipFill>
        <p:spPr>
          <a:xfrm>
            <a:off x="3522980" y="3232785"/>
            <a:ext cx="2830195" cy="3618230"/>
          </a:xfrm>
          <a:prstGeom prst="rect">
            <a:avLst/>
          </a:prstGeom>
        </p:spPr>
      </p:pic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1097915" y="1016635"/>
            <a:ext cx="761365" cy="4030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rtl="0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C00000"/>
                </a:solidFill>
                <a:effectLst/>
                <a:latin typeface="Verdana" panose="020B0604030504040204"/>
                <a:ea typeface="华文楷体" panose="02010600040101010101" charset="-122"/>
                <a:cs typeface="+mn-cs"/>
              </a:rPr>
              <a:t>实验报告参考模板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420110" y="327660"/>
            <a:ext cx="2420620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/>
                <a:ea typeface="华文楷体" panose="02010600040101010101" charset="-122"/>
                <a:sym typeface="+mn-ea"/>
              </a:rPr>
              <a:t>课程内容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2476684" y="3723627"/>
            <a:ext cx="384111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角动量守恒（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642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2800" b="1" dirty="0" smtClean="0">
              <a:solidFill>
                <a:srgbClr val="000000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1" name="Text Box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85574" y="5525551"/>
            <a:ext cx="383222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弦振动的研究（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635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en-US" altLang="zh-CN" sz="2800" b="1" dirty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46204" y="1894840"/>
            <a:ext cx="450913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表面张力系数的测定（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639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3200" b="1" dirty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4" name="Text 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46204" y="2493726"/>
            <a:ext cx="554609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拉伸法测杨氏模量（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641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en-US" altLang="zh-CN" sz="2800" b="1" dirty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6" name="图形 5" descr="指向右边的反手食指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084" y="3783157"/>
            <a:ext cx="504056" cy="504056"/>
          </a:xfrm>
          <a:prstGeom prst="rect">
            <a:avLst/>
          </a:prstGeom>
        </p:spPr>
      </p:pic>
      <p:pic>
        <p:nvPicPr>
          <p:cNvPr id="7" name="图形 6" descr="指向右边的反手食指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833" y="4364603"/>
            <a:ext cx="504056" cy="504056"/>
          </a:xfrm>
          <a:prstGeom prst="rect">
            <a:avLst/>
          </a:prstGeom>
        </p:spPr>
      </p:pic>
      <p:pic>
        <p:nvPicPr>
          <p:cNvPr id="9" name="图形 8" descr="指向右边的反手食指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148" y="4982830"/>
            <a:ext cx="504056" cy="504056"/>
          </a:xfrm>
          <a:prstGeom prst="rect">
            <a:avLst/>
          </a:prstGeom>
        </p:spPr>
      </p:pic>
      <p:pic>
        <p:nvPicPr>
          <p:cNvPr id="10" name="图形 9" descr="指向右边的反手食指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148" y="5558894"/>
            <a:ext cx="504056" cy="504056"/>
          </a:xfrm>
          <a:prstGeom prst="rect">
            <a:avLst/>
          </a:prstGeom>
        </p:spPr>
      </p:pic>
      <p:pic>
        <p:nvPicPr>
          <p:cNvPr id="19" name="图形 18" descr="指向右边的反手食指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88" y="1245329"/>
            <a:ext cx="504056" cy="504056"/>
          </a:xfrm>
          <a:prstGeom prst="rect">
            <a:avLst/>
          </a:prstGeom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76684" y="3109056"/>
            <a:ext cx="426593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空气中声速的测定（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643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en-US" altLang="zh-CN" sz="2800" b="1" dirty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17" name="Text Box 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76684" y="4366107"/>
            <a:ext cx="4140835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玻尔兹曼常数（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638</a:t>
            </a: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zh-CN" altLang="en-US" sz="3200" b="1" dirty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20" name="图形 5" descr="指向右边的反手食指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79" y="1914987"/>
            <a:ext cx="504056" cy="504056"/>
          </a:xfrm>
          <a:prstGeom prst="rect">
            <a:avLst/>
          </a:prstGeom>
        </p:spPr>
      </p:pic>
      <p:pic>
        <p:nvPicPr>
          <p:cNvPr id="22" name="图形 8" descr="指向右边的反手食指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28" y="3144505"/>
            <a:ext cx="504056" cy="504056"/>
          </a:xfrm>
          <a:prstGeom prst="rect">
            <a:avLst/>
          </a:prstGeom>
        </p:spPr>
      </p:pic>
      <p:pic>
        <p:nvPicPr>
          <p:cNvPr id="23" name="图形 9" descr="指向右边的反手食指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28" y="2500734"/>
            <a:ext cx="504056" cy="504056"/>
          </a:xfrm>
          <a:prstGeom prst="rect">
            <a:avLst/>
          </a:prstGeom>
        </p:spPr>
      </p:pic>
      <p:sp>
        <p:nvSpPr>
          <p:cNvPr id="21" name="Text Box 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461444" y="1217915"/>
            <a:ext cx="48768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薄透镜焦距的测定（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637</a:t>
            </a:r>
            <a:r>
              <a:rPr lang="zh-CN" altLang="en-US" sz="2800" b="1" dirty="0" smtClean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r>
              <a:rPr lang="zh-CN" altLang="en-US" sz="2800" b="1" dirty="0">
                <a:solidFill>
                  <a:srgbClr val="1807B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3200" b="1" dirty="0">
                <a:solidFill>
                  <a:srgbClr val="1807B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</a:p>
        </p:txBody>
      </p:sp>
      <p:sp>
        <p:nvSpPr>
          <p:cNvPr id="24" name="Text Box 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476684" y="5008587"/>
            <a:ext cx="4702810" cy="521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 rtl="0" fontAlgn="auto">
              <a:spcBef>
                <a:spcPct val="50000"/>
              </a:spcBef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示波器使用（</a:t>
            </a:r>
            <a:r>
              <a:rPr lang="en-US" altLang="zh-CN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634</a:t>
            </a:r>
            <a:r>
              <a:rPr lang="zh-CN" altLang="en-US" sz="2800" b="1" dirty="0" smtClean="0">
                <a:solidFill>
                  <a:srgbClr val="00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）</a:t>
            </a:r>
            <a:endParaRPr lang="en-US" altLang="zh-CN" sz="2800" b="1" dirty="0" smtClean="0">
              <a:solidFill>
                <a:srgbClr val="1807B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" name="动作按钮: 前进或下一项 1">
            <a:hlinkClick r:id="rId15" action="ppaction://hlinkfile"/>
          </p:cNvPr>
          <p:cNvSpPr/>
          <p:nvPr/>
        </p:nvSpPr>
        <p:spPr>
          <a:xfrm>
            <a:off x="8154035" y="5988050"/>
            <a:ext cx="501015" cy="377825"/>
          </a:xfrm>
          <a:prstGeom prst="actionButtonForwardNex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02" y="571500"/>
            <a:ext cx="8993798" cy="57699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0" y="782515"/>
            <a:ext cx="8825651" cy="38352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265" y="332740"/>
            <a:ext cx="8001000" cy="1216025"/>
          </a:xfrm>
        </p:spPr>
        <p:txBody>
          <a:bodyPr/>
          <a:lstStyle/>
          <a:p>
            <a:pPr algn="ctr"/>
            <a:r>
              <a:rPr lang="zh-CN" altLang="en-US" b="1">
                <a:solidFill>
                  <a:srgbClr val="C00000"/>
                </a:solidFill>
              </a:rPr>
              <a:t>请假问题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/>
          <a:p>
            <a:pPr rtl="0" fontAlgn="auto">
              <a:spcBef>
                <a:spcPts val="0"/>
              </a:spcBef>
              <a:spcAft>
                <a:spcPts val="0"/>
              </a:spcAft>
              <a:defRPr/>
            </a:pPr>
            <a:fld id="{58588BF8-A99D-4CF9-A6C8-9593A2B64B2C}" type="slidenum">
              <a:rPr lang="en-US" altLang="zh-CN" sz="1800" b="0">
                <a:solidFill>
                  <a:srgbClr val="000000"/>
                </a:solidFill>
                <a:latin typeface="Verdana" panose="020B0604030504040204"/>
                <a:ea typeface="宋体" panose="02010600030101010101" pitchFamily="2" charset="-122"/>
                <a:cs typeface="+mn-cs"/>
              </a:rPr>
              <a:t>7</a:t>
            </a:fld>
            <a:endParaRPr lang="en-US" altLang="zh-CN" sz="1800" b="0">
              <a:solidFill>
                <a:srgbClr val="000000"/>
              </a:solidFill>
              <a:latin typeface="Verdana" panose="020B060403050404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91235" y="1024255"/>
            <a:ext cx="72971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</a:rPr>
              <a:t>注意：</a:t>
            </a:r>
            <a:r>
              <a:rPr lang="zh-CN" altLang="en-US" sz="2400" dirty="0"/>
              <a:t>向任课老师请假，需要填写假条，补课</a:t>
            </a:r>
            <a:r>
              <a:rPr lang="zh-CN" altLang="en-US" sz="2400" dirty="0" smtClean="0"/>
              <a:t>时向补</a:t>
            </a:r>
            <a:endParaRPr lang="en-US" altLang="zh-CN" sz="2400" dirty="0" smtClean="0"/>
          </a:p>
          <a:p>
            <a:r>
              <a:rPr lang="zh-CN" altLang="en-US" sz="2400" dirty="0" smtClean="0"/>
              <a:t>课</a:t>
            </a:r>
            <a:r>
              <a:rPr lang="zh-CN" altLang="en-US" sz="2400" dirty="0"/>
              <a:t>老师出示，征得老师同意后方可补课，</a:t>
            </a:r>
            <a:r>
              <a:rPr lang="zh-CN" altLang="en-US" sz="2400" dirty="0" smtClean="0"/>
              <a:t>补课</a:t>
            </a:r>
            <a:r>
              <a:rPr lang="zh-CN" altLang="en-US" sz="2400" dirty="0"/>
              <a:t>要求</a:t>
            </a:r>
            <a:r>
              <a:rPr lang="zh-CN" altLang="en-US" sz="2400" dirty="0" smtClean="0"/>
              <a:t>跟</a:t>
            </a:r>
            <a:endParaRPr lang="en-US" altLang="zh-CN" sz="2400" dirty="0" smtClean="0"/>
          </a:p>
          <a:p>
            <a:r>
              <a:rPr lang="zh-CN" altLang="en-US" sz="2400" dirty="0" smtClean="0"/>
              <a:t>正式上课一样</a:t>
            </a:r>
            <a:r>
              <a:rPr lang="zh-CN" altLang="en-US" sz="2400" dirty="0"/>
              <a:t>，补完找老师签完字才能离开。</a:t>
            </a:r>
            <a:endParaRPr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33" y="2421235"/>
            <a:ext cx="7535309" cy="33896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82228346456685,&quot;left&quot;:-1.7512598425196757,&quot;top&quot;:181.69842519685042,&quot;width&quot;:695.355905511811}"/>
</p:tagLst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273</Words>
  <Application>Microsoft Office PowerPoint</Application>
  <PresentationFormat>全屏显示(4:3)</PresentationFormat>
  <Paragraphs>26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华文彩云</vt:lpstr>
      <vt:lpstr>华文楷体</vt:lpstr>
      <vt:lpstr>隶书</vt:lpstr>
      <vt:lpstr>宋体</vt:lpstr>
      <vt:lpstr>Arial</vt:lpstr>
      <vt:lpstr>Calibri</vt:lpstr>
      <vt:lpstr>Tahoma</vt:lpstr>
      <vt:lpstr>Times New Roman</vt:lpstr>
      <vt:lpstr>Verdana</vt:lpstr>
      <vt:lpstr>2_Office 主题​​</vt:lpstr>
      <vt:lpstr>Photoshop.Image.8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请假问题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 wang</dc:creator>
  <cp:lastModifiedBy>86152</cp:lastModifiedBy>
  <cp:revision>9</cp:revision>
  <dcterms:created xsi:type="dcterms:W3CDTF">2023-08-09T12:44:00Z</dcterms:created>
  <dcterms:modified xsi:type="dcterms:W3CDTF">2025-02-27T01:07:38Z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2052-10.1.0.5850</vt:lpwstr>
  </property>
</Properties>
</file>